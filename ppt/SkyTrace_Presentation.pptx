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micro project is called SkyTrace. In simple words, we take the location data that every aeroplane sends out, store it with big data tools like Hadoop, and study it to find where the sky over India is crowded, which flights take longer paths than needed, and which airports are the most important. This connects to the UN Sustainable Development Goal 9, which is about building good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commercial aeroplane has a device called ADS-B that broadcasts its location, height and speed every second. If we join these points, we get the path of the flight, which is called a trajectory. Spatio-temporal simply means we study place and time together, for example: how busy is the sky near Mumbai at 7 pm? You can imagine it like Google Maps showing red roads for traffic, but here we do it for the sky.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real problem. Indian airports like Delhi and Mumbai get very crowded at peak hours. When the runway is busy, air traffic control asks planes to fly in circles and wait. This is called holding. Also, planes do not always fly straight; they follow fixed air routes that bend. Both of these waste fuel, add pollution and delay passengers. For example, if an A320 circles for 15 minutes, it burns around 500 to 600 kilograms of extra fuel. Multiply this by hundreds of flights every day and the waste is very large.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SDG 9 asks countries to build infrastructure that is reliable and sustainable. Airports and the airspace above us are infrastructure, just like roads and railways. Our project gives data to decide where a new runway or a better route is needed. And when planes fly shorter routes, they burn less fuel, which also helps climate action, SDG 13.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 comes from the OpenSky Network, a free website used by universities around the world to study flights. Each row tells us: at this time, this plane was at this latitude and longitude, at this height, flying at this speed and direction. In our Colab notebook we download one real hour of data over India. Real data does not tell where a flight started and ended, so we also made a sample day in the same format for 20 major Indian airports, with 900 flights and about 67,000 rows. It copies real patterns like the morning and evening rush.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flow of our system. First we collect the flight data. Then we store it in Hadoop HDFS, which can split a huge file into blocks and keep them on many computers. Next, MapReduce and Spark process the data in parallel. We store each flight's path in MongoDB, a NoSQL database that can search by location. Then we build a network of airports and analyse it. Finally, everything is shown on a web dashboard.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Hadoop we used the basic HDFS commands from our first experiment: put to upload, ls to list, cat to view, cp and mv to copy and move, get to download, and rm to delete. Then we wrote two MapReduce jobs. The first one divides the map of India into small boxes and counts how many planes were in each box every hour. That tells us the crowded areas. The second job collects all points of one plane, puts them in time order, and calculates how far it actually flew compared to the straight-line distance. MapReduce works like election counting: many booths count votes at the same time, which is the map step, and then all counts are added together, which is the reduce step.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Spark is faster than MapReduce because it keeps data in memory. We used Spark SQL to count active planes every hour and to label each point as climbing, cruising or descending. We also detect holding: if a plane keeps turning in the same direction for more than 540 degrees, that means one and a half circles, so it is waiting to land. In MongoDB, every flight is saved as a line on the map with a special geo index. That lets us ask questions like: which flights passed within 50 kilometres of Nagpur, or which flights entered the Mumbai area during the evening rush.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turned the airports into a network. Each airport is a dot and each route is a line. We used the Louvain community detection algorithm from our syllabus. It found four natural groups: North, West, South and East India. Then we used PageRank and betweenness to find the most important airports, which are Delhi and Mumbai. This is exactly like social media analysis: Louvain finds friend groups, and PageRank finds influencers. Here the influencers are hub airports.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results for the sample day. On average, flights flew 4.1 percent more than the straight path. That adds up to nearly 18,000 kilometres of extra flying in one day, which is about 136 tonnes of carbon dioxide that could be saved. 52 planes had to circle before landing, all at Delhi and Mumbai, and all during the morning and evening rush. This clearly shows where and when the infrastructure is under pressure.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show the dashboard. On the first tab you see every flight path over India. Green is low, yellow is medium and blue is high altitude. Red paths are planes that circled. I can move this slider to see flights at any hour. The temporal tab shows the morning and evening peaks. The route tab lists the routes with the most extra distance and the CO2 impact. The network tab shows the airport groups found by Louvain and the ranking of hub airports.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benefits from this? The Airports Authority of India can use it to plan direct routes and redesign busy airspace. Airport operators can see when the runway is full and plan new capacity, like the new Navi Mumbai and Noida airports, which were built because the old ones are crowded. Airlines can schedule flights away from rush hours and save fuel. The government can track pollution, and in the end passengers get fewer delays.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we built a full big data pipeline using the tools from our syllabus and used it to turn raw flight points into useful insights for infrastructure planning. In future we can connect live data using Kafka, predict delays using machine learning, and add weather data, because fog in Delhi is a major cause of delays.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spcAft>
                <a:spcPts val="1000"/>
              </a:spcAft>
              <a:defRPr sz="1200" b="1">
                <a:solidFill>
                  <a:srgbClr val="4CC9F0"/>
                </a:solidFill>
              </a:defRPr>
            </a:pPr>
            <a:r>
              <a:t>BDSMA MICRO PROJECT</a:t>
            </a:r>
          </a:p>
        </p:txBody>
      </p:sp>
      <p:sp>
        <p:nvSpPr>
          <p:cNvPr id="3" name="TextBox 2"/>
          <p:cNvSpPr txBox="1"/>
          <p:nvPr/>
        </p:nvSpPr>
        <p:spPr>
          <a:xfrm>
            <a:off x="548640" y="640080"/>
            <a:ext cx="10972800" cy="822960"/>
          </a:xfrm>
          <a:prstGeom prst="rect">
            <a:avLst/>
          </a:prstGeom>
          <a:noFill/>
        </p:spPr>
        <p:txBody>
          <a:bodyPr wrap="square">
            <a:spAutoFit/>
          </a:bodyPr>
          <a:lstStyle/>
          <a:p>
            <a:pPr>
              <a:spcAft>
                <a:spcPts val="1000"/>
              </a:spcAft>
              <a:defRPr sz="5400" b="1">
                <a:solidFill>
                  <a:srgbClr val="E6EDF7"/>
                </a:solidFill>
              </a:defRPr>
            </a:pPr>
            <a:r>
              <a:t>SkyTrace</a:t>
            </a:r>
          </a:p>
        </p:txBody>
      </p:sp>
      <p:sp>
        <p:nvSpPr>
          <p:cNvPr id="4" name="TextBox 3"/>
          <p:cNvSpPr txBox="1"/>
          <p:nvPr/>
        </p:nvSpPr>
        <p:spPr>
          <a:xfrm>
            <a:off x="548640" y="1600200"/>
            <a:ext cx="6217920" cy="914400"/>
          </a:xfrm>
          <a:prstGeom prst="rect">
            <a:avLst/>
          </a:prstGeom>
          <a:noFill/>
        </p:spPr>
        <p:txBody>
          <a:bodyPr wrap="square">
            <a:spAutoFit/>
          </a:bodyPr>
          <a:lstStyle/>
          <a:p>
            <a:pPr>
              <a:spcAft>
                <a:spcPts val="1000"/>
              </a:spcAft>
              <a:defRPr sz="2200" b="0">
                <a:solidFill>
                  <a:srgbClr val="E6EDF7"/>
                </a:solidFill>
              </a:defRPr>
            </a:pPr>
            <a:r>
              <a:t>Studying the paths of flights over India using Big Data tools</a:t>
            </a:r>
          </a:p>
        </p:txBody>
      </p:sp>
      <p:sp>
        <p:nvSpPr>
          <p:cNvPr id="5" name="TextBox 4"/>
          <p:cNvSpPr txBox="1"/>
          <p:nvPr/>
        </p:nvSpPr>
        <p:spPr>
          <a:xfrm>
            <a:off x="548640" y="2743200"/>
            <a:ext cx="6035040" cy="4572000"/>
          </a:xfrm>
          <a:prstGeom prst="rect">
            <a:avLst/>
          </a:prstGeom>
          <a:noFill/>
        </p:spPr>
        <p:txBody>
          <a:bodyPr wrap="square">
            <a:spAutoFit/>
          </a:bodyPr>
          <a:lstStyle/>
          <a:p>
            <a:pPr>
              <a:spcAft>
                <a:spcPts val="1000"/>
              </a:spcAft>
              <a:defRPr sz="1800" b="0">
                <a:solidFill>
                  <a:srgbClr val="8A9BBB"/>
                </a:solidFill>
              </a:defRPr>
            </a:pPr>
            <a:r>
              <a:t>•  Topic: Flight Trajectory Analysis (spatio-temporal analytics)</a:t>
            </a:r>
          </a:p>
          <a:p>
            <a:pPr>
              <a:spcAft>
                <a:spcPts val="1000"/>
              </a:spcAft>
              <a:defRPr sz="1800" b="0">
                <a:solidFill>
                  <a:srgbClr val="8A9BBB"/>
                </a:solidFill>
              </a:defRPr>
            </a:pPr>
            <a:r>
              <a:t>•  Tools: Hadoop, MapReduce, Spark, MongoDB, Graph analysis</a:t>
            </a:r>
          </a:p>
          <a:p>
            <a:pPr>
              <a:spcAft>
                <a:spcPts val="1000"/>
              </a:spcAft>
              <a:defRPr sz="1800" b="0">
                <a:solidFill>
                  <a:srgbClr val="8A9BBB"/>
                </a:solidFill>
              </a:defRPr>
            </a:pPr>
            <a:r>
              <a:t>•  Linked to UN SDG 9: Industry, Innovation &amp; Infrastructure</a:t>
            </a:r>
          </a:p>
        </p:txBody>
      </p:sp>
      <p:pic>
        <p:nvPicPr>
          <p:cNvPr id="6" name="Picture 5" descr="map.png"/>
          <p:cNvPicPr>
            <a:picLocks noChangeAspect="1"/>
          </p:cNvPicPr>
          <p:nvPr/>
        </p:nvPicPr>
        <p:blipFill>
          <a:blip r:embed="rId2"/>
          <a:stretch>
            <a:fillRect/>
          </a:stretch>
        </p:blipFill>
        <p:spPr>
          <a:xfrm>
            <a:off x="6949440" y="914400"/>
            <a:ext cx="4353819" cy="54864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spcAft>
                <a:spcPts val="1000"/>
              </a:spcAft>
              <a:defRPr sz="1200" b="1">
                <a:solidFill>
                  <a:srgbClr val="4CC9F0"/>
                </a:solidFill>
              </a:defRPr>
            </a:pPr>
            <a:r>
              <a:t>INTRODUCTION</a:t>
            </a:r>
          </a:p>
        </p:txBody>
      </p:sp>
      <p:sp>
        <p:nvSpPr>
          <p:cNvPr id="3" name="TextBox 2"/>
          <p:cNvSpPr txBox="1"/>
          <p:nvPr/>
        </p:nvSpPr>
        <p:spPr>
          <a:xfrm>
            <a:off x="548640" y="640080"/>
            <a:ext cx="10972800" cy="822960"/>
          </a:xfrm>
          <a:prstGeom prst="rect">
            <a:avLst/>
          </a:prstGeom>
          <a:noFill/>
        </p:spPr>
        <p:txBody>
          <a:bodyPr wrap="square">
            <a:spAutoFit/>
          </a:bodyPr>
          <a:lstStyle/>
          <a:p>
            <a:pPr>
              <a:spcAft>
                <a:spcPts val="1000"/>
              </a:spcAft>
              <a:defRPr sz="3400" b="1">
                <a:solidFill>
                  <a:srgbClr val="E6EDF7"/>
                </a:solidFill>
              </a:defRPr>
            </a:pPr>
            <a:r>
              <a:t>What is this project?</a:t>
            </a:r>
          </a:p>
        </p:txBody>
      </p:sp>
      <p:sp>
        <p:nvSpPr>
          <p:cNvPr id="4" name="TextBox 3"/>
          <p:cNvSpPr txBox="1"/>
          <p:nvPr/>
        </p:nvSpPr>
        <p:spPr>
          <a:xfrm>
            <a:off x="548640" y="1645920"/>
            <a:ext cx="10972800" cy="4572000"/>
          </a:xfrm>
          <a:prstGeom prst="rect">
            <a:avLst/>
          </a:prstGeom>
          <a:noFill/>
        </p:spPr>
        <p:txBody>
          <a:bodyPr wrap="square">
            <a:spAutoFit/>
          </a:bodyPr>
          <a:lstStyle/>
          <a:p>
            <a:pPr>
              <a:spcAft>
                <a:spcPts val="1000"/>
              </a:spcAft>
              <a:defRPr sz="1900" b="0">
                <a:solidFill>
                  <a:srgbClr val="E6EDF7"/>
                </a:solidFill>
              </a:defRPr>
            </a:pPr>
            <a:r>
              <a:t>•  Every plane sends its position every few seconds, like a GPS ping</a:t>
            </a:r>
          </a:p>
          <a:p>
            <a:pPr>
              <a:spcAft>
                <a:spcPts val="1000"/>
              </a:spcAft>
              <a:defRPr sz="1900" b="0">
                <a:solidFill>
                  <a:srgbClr val="E6EDF7"/>
                </a:solidFill>
              </a:defRPr>
            </a:pPr>
            <a:r>
              <a:t>•  Joining these points gives the plane's path, called a trajectory</a:t>
            </a:r>
          </a:p>
          <a:p>
            <a:pPr>
              <a:spcAft>
                <a:spcPts val="1000"/>
              </a:spcAft>
              <a:defRPr sz="1900" b="0">
                <a:solidFill>
                  <a:srgbClr val="E6EDF7"/>
                </a:solidFill>
              </a:defRPr>
            </a:pPr>
            <a:r>
              <a:t>•  Spatio-temporal means we look at WHERE (place) and WHEN (time) together</a:t>
            </a:r>
          </a:p>
          <a:p>
            <a:pPr>
              <a:spcAft>
                <a:spcPts val="1000"/>
              </a:spcAft>
              <a:defRPr sz="1900" b="0">
                <a:solidFill>
                  <a:srgbClr val="E6EDF7"/>
                </a:solidFill>
              </a:defRPr>
            </a:pPr>
            <a:r>
              <a:t>•  Think of it as Google Maps traffic, but for the sky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spcAft>
                <a:spcPts val="1000"/>
              </a:spcAft>
              <a:defRPr sz="1200" b="1">
                <a:solidFill>
                  <a:srgbClr val="4CC9F0"/>
                </a:solidFill>
              </a:defRPr>
            </a:pPr>
            <a:r>
              <a:t>THE PROBLEM</a:t>
            </a:r>
          </a:p>
        </p:txBody>
      </p:sp>
      <p:sp>
        <p:nvSpPr>
          <p:cNvPr id="3" name="TextBox 2"/>
          <p:cNvSpPr txBox="1"/>
          <p:nvPr/>
        </p:nvSpPr>
        <p:spPr>
          <a:xfrm>
            <a:off x="548640" y="640080"/>
            <a:ext cx="10972800" cy="822960"/>
          </a:xfrm>
          <a:prstGeom prst="rect">
            <a:avLst/>
          </a:prstGeom>
          <a:noFill/>
        </p:spPr>
        <p:txBody>
          <a:bodyPr wrap="square">
            <a:spAutoFit/>
          </a:bodyPr>
          <a:lstStyle/>
          <a:p>
            <a:pPr>
              <a:spcAft>
                <a:spcPts val="1000"/>
              </a:spcAft>
              <a:defRPr sz="3400" b="1">
                <a:solidFill>
                  <a:srgbClr val="E6EDF7"/>
                </a:solidFill>
              </a:defRPr>
            </a:pPr>
            <a:r>
              <a:t>Why do we need this?</a:t>
            </a:r>
          </a:p>
        </p:txBody>
      </p:sp>
      <p:sp>
        <p:nvSpPr>
          <p:cNvPr id="4" name="TextBox 3"/>
          <p:cNvSpPr txBox="1"/>
          <p:nvPr/>
        </p:nvSpPr>
        <p:spPr>
          <a:xfrm>
            <a:off x="548640" y="1645920"/>
            <a:ext cx="6035040" cy="4572000"/>
          </a:xfrm>
          <a:prstGeom prst="rect">
            <a:avLst/>
          </a:prstGeom>
          <a:noFill/>
        </p:spPr>
        <p:txBody>
          <a:bodyPr wrap="square">
            <a:spAutoFit/>
          </a:bodyPr>
          <a:lstStyle/>
          <a:p>
            <a:pPr>
              <a:spcAft>
                <a:spcPts val="1000"/>
              </a:spcAft>
              <a:defRPr sz="1800" b="0">
                <a:solidFill>
                  <a:srgbClr val="E6EDF7"/>
                </a:solidFill>
              </a:defRPr>
            </a:pPr>
            <a:r>
              <a:t>•  Delhi and Mumbai airports are very busy in the morning and evening rush</a:t>
            </a:r>
          </a:p>
          <a:p>
            <a:pPr>
              <a:spcAft>
                <a:spcPts val="1000"/>
              </a:spcAft>
              <a:defRPr sz="1800" b="0">
                <a:solidFill>
                  <a:srgbClr val="E6EDF7"/>
                </a:solidFill>
              </a:defRPr>
            </a:pPr>
            <a:r>
              <a:t>•  When the runway is full, planes circle in the air, called holding</a:t>
            </a:r>
          </a:p>
          <a:p>
            <a:pPr>
              <a:spcAft>
                <a:spcPts val="1000"/>
              </a:spcAft>
              <a:defRPr sz="1800" b="0">
                <a:solidFill>
                  <a:srgbClr val="E6EDF7"/>
                </a:solidFill>
              </a:defRPr>
            </a:pPr>
            <a:r>
              <a:t>•  Planes also fly zig-zag airways instead of straight lines</a:t>
            </a:r>
          </a:p>
          <a:p>
            <a:pPr>
              <a:spcAft>
                <a:spcPts val="1000"/>
              </a:spcAft>
              <a:defRPr sz="1800" b="0">
                <a:solidFill>
                  <a:srgbClr val="E6EDF7"/>
                </a:solidFill>
              </a:defRPr>
            </a:pPr>
            <a:r>
              <a:t>•  Result: extra fuel, more pollution, delays for passengers</a:t>
            </a:r>
          </a:p>
          <a:p>
            <a:pPr>
              <a:spcAft>
                <a:spcPts val="1000"/>
              </a:spcAft>
              <a:defRPr sz="1800" b="0">
                <a:solidFill>
                  <a:srgbClr val="E6EDF7"/>
                </a:solidFill>
              </a:defRPr>
            </a:pPr>
            <a:r>
              <a:t>•  Example: 15 minutes of circling burns roughly 500-600 kg of fuel for an A320</a:t>
            </a:r>
          </a:p>
        </p:txBody>
      </p:sp>
      <p:pic>
        <p:nvPicPr>
          <p:cNvPr id="5" name="Picture 4" descr="routes.png"/>
          <p:cNvPicPr>
            <a:picLocks noChangeAspect="1"/>
          </p:cNvPicPr>
          <p:nvPr/>
        </p:nvPicPr>
        <p:blipFill>
          <a:blip r:embed="rId2"/>
          <a:stretch>
            <a:fillRect/>
          </a:stretch>
        </p:blipFill>
        <p:spPr>
          <a:xfrm>
            <a:off x="6949440" y="3931920"/>
            <a:ext cx="4818231" cy="26517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spcAft>
                <a:spcPts val="1000"/>
              </a:spcAft>
              <a:defRPr sz="1200" b="1">
                <a:solidFill>
                  <a:srgbClr val="4CC9F0"/>
                </a:solidFill>
              </a:defRPr>
            </a:pPr>
            <a:r>
              <a:t>SDG 9</a:t>
            </a:r>
          </a:p>
        </p:txBody>
      </p:sp>
      <p:sp>
        <p:nvSpPr>
          <p:cNvPr id="3" name="TextBox 2"/>
          <p:cNvSpPr txBox="1"/>
          <p:nvPr/>
        </p:nvSpPr>
        <p:spPr>
          <a:xfrm>
            <a:off x="548640" y="640080"/>
            <a:ext cx="10972800" cy="822960"/>
          </a:xfrm>
          <a:prstGeom prst="rect">
            <a:avLst/>
          </a:prstGeom>
          <a:noFill/>
        </p:spPr>
        <p:txBody>
          <a:bodyPr wrap="square">
            <a:spAutoFit/>
          </a:bodyPr>
          <a:lstStyle/>
          <a:p>
            <a:pPr>
              <a:spcAft>
                <a:spcPts val="1000"/>
              </a:spcAft>
              <a:defRPr sz="3400" b="1">
                <a:solidFill>
                  <a:srgbClr val="E6EDF7"/>
                </a:solidFill>
              </a:defRPr>
            </a:pPr>
            <a:r>
              <a:t>Link to Sustainable Development Goal 9</a:t>
            </a:r>
          </a:p>
        </p:txBody>
      </p:sp>
      <p:sp>
        <p:nvSpPr>
          <p:cNvPr id="4" name="TextBox 3"/>
          <p:cNvSpPr txBox="1"/>
          <p:nvPr/>
        </p:nvSpPr>
        <p:spPr>
          <a:xfrm>
            <a:off x="548640" y="1645920"/>
            <a:ext cx="10972800" cy="4572000"/>
          </a:xfrm>
          <a:prstGeom prst="rect">
            <a:avLst/>
          </a:prstGeom>
          <a:noFill/>
        </p:spPr>
        <p:txBody>
          <a:bodyPr wrap="square">
            <a:spAutoFit/>
          </a:bodyPr>
          <a:lstStyle/>
          <a:p>
            <a:pPr>
              <a:spcAft>
                <a:spcPts val="1000"/>
              </a:spcAft>
              <a:defRPr sz="1900" b="0">
                <a:solidFill>
                  <a:srgbClr val="E6EDF7"/>
                </a:solidFill>
              </a:defRPr>
            </a:pPr>
            <a:r>
              <a:t>•  SDG 9 = build strong, reliable and sustainable infrastructure</a:t>
            </a:r>
          </a:p>
          <a:p>
            <a:pPr>
              <a:spcAft>
                <a:spcPts val="1000"/>
              </a:spcAft>
              <a:defRPr sz="1900" b="0">
                <a:solidFill>
                  <a:srgbClr val="E6EDF7"/>
                </a:solidFill>
              </a:defRPr>
            </a:pPr>
            <a:r>
              <a:t>•  Airspace and airports are national infrastructure</a:t>
            </a:r>
          </a:p>
          <a:p>
            <a:pPr>
              <a:spcAft>
                <a:spcPts val="1000"/>
              </a:spcAft>
              <a:defRPr sz="1900" b="0">
                <a:solidFill>
                  <a:srgbClr val="E6EDF7"/>
                </a:solidFill>
              </a:defRPr>
            </a:pPr>
            <a:r>
              <a:t>•  Our analysis shows WHERE new capacity is needed</a:t>
            </a:r>
          </a:p>
          <a:p>
            <a:pPr>
              <a:spcAft>
                <a:spcPts val="1000"/>
              </a:spcAft>
              <a:defRPr sz="1900" b="0">
                <a:solidFill>
                  <a:srgbClr val="E6EDF7"/>
                </a:solidFill>
              </a:defRPr>
            </a:pPr>
            <a:r>
              <a:t>•  Shorter routes = less fuel = greener aviation (also helps SDG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spcAft>
                <a:spcPts val="1000"/>
              </a:spcAft>
              <a:defRPr sz="1200" b="1">
                <a:solidFill>
                  <a:srgbClr val="4CC9F0"/>
                </a:solidFill>
              </a:defRPr>
            </a:pPr>
            <a:r>
              <a:t>DATA</a:t>
            </a:r>
          </a:p>
        </p:txBody>
      </p:sp>
      <p:sp>
        <p:nvSpPr>
          <p:cNvPr id="3" name="TextBox 2"/>
          <p:cNvSpPr txBox="1"/>
          <p:nvPr/>
        </p:nvSpPr>
        <p:spPr>
          <a:xfrm>
            <a:off x="548640" y="640080"/>
            <a:ext cx="10972800" cy="822960"/>
          </a:xfrm>
          <a:prstGeom prst="rect">
            <a:avLst/>
          </a:prstGeom>
          <a:noFill/>
        </p:spPr>
        <p:txBody>
          <a:bodyPr wrap="square">
            <a:spAutoFit/>
          </a:bodyPr>
          <a:lstStyle/>
          <a:p>
            <a:pPr>
              <a:spcAft>
                <a:spcPts val="1000"/>
              </a:spcAft>
              <a:defRPr sz="3400" b="1">
                <a:solidFill>
                  <a:srgbClr val="E6EDF7"/>
                </a:solidFill>
              </a:defRPr>
            </a:pPr>
            <a:r>
              <a:t>The dataset</a:t>
            </a:r>
          </a:p>
        </p:txBody>
      </p:sp>
      <p:sp>
        <p:nvSpPr>
          <p:cNvPr id="4" name="TextBox 3"/>
          <p:cNvSpPr txBox="1"/>
          <p:nvPr/>
        </p:nvSpPr>
        <p:spPr>
          <a:xfrm>
            <a:off x="548640" y="1645920"/>
            <a:ext cx="10972800" cy="4572000"/>
          </a:xfrm>
          <a:prstGeom prst="rect">
            <a:avLst/>
          </a:prstGeom>
          <a:noFill/>
        </p:spPr>
        <p:txBody>
          <a:bodyPr wrap="square">
            <a:spAutoFit/>
          </a:bodyPr>
          <a:lstStyle/>
          <a:p>
            <a:pPr>
              <a:spcAft>
                <a:spcPts val="1000"/>
              </a:spcAft>
              <a:defRPr sz="1900" b="0">
                <a:solidFill>
                  <a:srgbClr val="E6EDF7"/>
                </a:solidFill>
              </a:defRPr>
            </a:pPr>
            <a:r>
              <a:t>•  Source: OpenSky Network, free real flight data used by researchers</a:t>
            </a:r>
          </a:p>
          <a:p>
            <a:pPr>
              <a:spcAft>
                <a:spcPts val="1000"/>
              </a:spcAft>
              <a:defRPr sz="1900" b="0">
                <a:solidFill>
                  <a:srgbClr val="E6EDF7"/>
                </a:solidFill>
              </a:defRPr>
            </a:pPr>
            <a:r>
              <a:t>•  Each row = one plane at one moment: time, plane ID, latitude, longitude, height, speed, direction</a:t>
            </a:r>
          </a:p>
          <a:p>
            <a:pPr>
              <a:spcAft>
                <a:spcPts val="1000"/>
              </a:spcAft>
              <a:defRPr sz="1900" b="0">
                <a:solidFill>
                  <a:srgbClr val="E6EDF7"/>
                </a:solidFill>
              </a:defRPr>
            </a:pPr>
            <a:r>
              <a:t>•  We use 1 real hour of data over India, plus a full 24-hour sample day</a:t>
            </a:r>
          </a:p>
          <a:p>
            <a:pPr>
              <a:spcAft>
                <a:spcPts val="1000"/>
              </a:spcAft>
              <a:defRPr sz="1900" b="0">
                <a:solidFill>
                  <a:srgbClr val="E6EDF7"/>
                </a:solidFill>
              </a:defRPr>
            </a:pPr>
            <a:r>
              <a:t>•  Sample day: 20 airports, 900 flights, about 67,000 position records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spcAft>
                <a:spcPts val="1000"/>
              </a:spcAft>
              <a:defRPr sz="1200" b="1">
                <a:solidFill>
                  <a:srgbClr val="4CC9F0"/>
                </a:solidFill>
              </a:defRPr>
            </a:pPr>
            <a:r>
              <a:t>ARCHITECTURE</a:t>
            </a:r>
          </a:p>
        </p:txBody>
      </p:sp>
      <p:sp>
        <p:nvSpPr>
          <p:cNvPr id="3" name="TextBox 2"/>
          <p:cNvSpPr txBox="1"/>
          <p:nvPr/>
        </p:nvSpPr>
        <p:spPr>
          <a:xfrm>
            <a:off x="548640" y="640080"/>
            <a:ext cx="10972800" cy="822960"/>
          </a:xfrm>
          <a:prstGeom prst="rect">
            <a:avLst/>
          </a:prstGeom>
          <a:noFill/>
        </p:spPr>
        <p:txBody>
          <a:bodyPr wrap="square">
            <a:spAutoFit/>
          </a:bodyPr>
          <a:lstStyle/>
          <a:p>
            <a:pPr>
              <a:spcAft>
                <a:spcPts val="1000"/>
              </a:spcAft>
              <a:defRPr sz="3400" b="1">
                <a:solidFill>
                  <a:srgbClr val="E6EDF7"/>
                </a:solidFill>
              </a:defRPr>
            </a:pPr>
            <a:r>
              <a:t>How the system works</a:t>
            </a:r>
          </a:p>
        </p:txBody>
      </p:sp>
      <p:sp>
        <p:nvSpPr>
          <p:cNvPr id="4" name="TextBox 3"/>
          <p:cNvSpPr txBox="1"/>
          <p:nvPr/>
        </p:nvSpPr>
        <p:spPr>
          <a:xfrm>
            <a:off x="548640" y="1645920"/>
            <a:ext cx="10972800" cy="4572000"/>
          </a:xfrm>
          <a:prstGeom prst="rect">
            <a:avLst/>
          </a:prstGeom>
          <a:noFill/>
        </p:spPr>
        <p:txBody>
          <a:bodyPr wrap="square">
            <a:spAutoFit/>
          </a:bodyPr>
          <a:lstStyle/>
          <a:p>
            <a:pPr>
              <a:spcAft>
                <a:spcPts val="1000"/>
              </a:spcAft>
              <a:defRPr sz="1900" b="0">
                <a:solidFill>
                  <a:srgbClr val="E6EDF7"/>
                </a:solidFill>
              </a:defRPr>
            </a:pPr>
            <a:r>
              <a:t>•  1. Collect: flight position data</a:t>
            </a:r>
          </a:p>
          <a:p>
            <a:pPr>
              <a:spcAft>
                <a:spcPts val="1000"/>
              </a:spcAft>
              <a:defRPr sz="1900" b="0">
                <a:solidFill>
                  <a:srgbClr val="E6EDF7"/>
                </a:solidFill>
              </a:defRPr>
            </a:pPr>
            <a:r>
              <a:t>•  2. Store: Hadoop HDFS, which splits big files across machines</a:t>
            </a:r>
          </a:p>
          <a:p>
            <a:pPr>
              <a:spcAft>
                <a:spcPts val="1000"/>
              </a:spcAft>
              <a:defRPr sz="1900" b="0">
                <a:solidFill>
                  <a:srgbClr val="E6EDF7"/>
                </a:solidFill>
              </a:defRPr>
            </a:pPr>
            <a:r>
              <a:t>•  3. Process: MapReduce and Spark crunch the numbers</a:t>
            </a:r>
          </a:p>
          <a:p>
            <a:pPr>
              <a:spcAft>
                <a:spcPts val="1000"/>
              </a:spcAft>
              <a:defRPr sz="1900" b="0">
                <a:solidFill>
                  <a:srgbClr val="E6EDF7"/>
                </a:solidFill>
              </a:defRPr>
            </a:pPr>
            <a:r>
              <a:t>•  4. Save: MongoDB stores each flight path for map searches</a:t>
            </a:r>
          </a:p>
          <a:p>
            <a:pPr>
              <a:spcAft>
                <a:spcPts val="1000"/>
              </a:spcAft>
              <a:defRPr sz="1900" b="0">
                <a:solidFill>
                  <a:srgbClr val="E6EDF7"/>
                </a:solidFill>
              </a:defRPr>
            </a:pPr>
            <a:r>
              <a:t>•  5. Analyse: graph of airports finds groups and hubs</a:t>
            </a:r>
          </a:p>
          <a:p>
            <a:pPr>
              <a:spcAft>
                <a:spcPts val="1000"/>
              </a:spcAft>
              <a:defRPr sz="1900" b="0">
                <a:solidFill>
                  <a:srgbClr val="E6EDF7"/>
                </a:solidFill>
              </a:defRPr>
            </a:pPr>
            <a:r>
              <a:t>•  6. Show: interactive web dashboard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spcAft>
                <a:spcPts val="1000"/>
              </a:spcAft>
              <a:defRPr sz="1200" b="1">
                <a:solidFill>
                  <a:srgbClr val="4CC9F0"/>
                </a:solidFill>
              </a:defRPr>
            </a:pPr>
            <a:r>
              <a:t>HADOOP &amp; MAPREDUCE</a:t>
            </a:r>
          </a:p>
        </p:txBody>
      </p:sp>
      <p:sp>
        <p:nvSpPr>
          <p:cNvPr id="3" name="TextBox 2"/>
          <p:cNvSpPr txBox="1"/>
          <p:nvPr/>
        </p:nvSpPr>
        <p:spPr>
          <a:xfrm>
            <a:off x="548640" y="640080"/>
            <a:ext cx="10972800" cy="822960"/>
          </a:xfrm>
          <a:prstGeom prst="rect">
            <a:avLst/>
          </a:prstGeom>
          <a:noFill/>
        </p:spPr>
        <p:txBody>
          <a:bodyPr wrap="square">
            <a:spAutoFit/>
          </a:bodyPr>
          <a:lstStyle/>
          <a:p>
            <a:pPr>
              <a:spcAft>
                <a:spcPts val="1000"/>
              </a:spcAft>
              <a:defRPr sz="3400" b="1">
                <a:solidFill>
                  <a:srgbClr val="E6EDF7"/>
                </a:solidFill>
              </a:defRPr>
            </a:pPr>
            <a:r>
              <a:t>Hadoop and MapReduce</a:t>
            </a:r>
          </a:p>
        </p:txBody>
      </p:sp>
      <p:sp>
        <p:nvSpPr>
          <p:cNvPr id="4" name="TextBox 3"/>
          <p:cNvSpPr txBox="1"/>
          <p:nvPr/>
        </p:nvSpPr>
        <p:spPr>
          <a:xfrm>
            <a:off x="548640" y="1645920"/>
            <a:ext cx="10972800" cy="4572000"/>
          </a:xfrm>
          <a:prstGeom prst="rect">
            <a:avLst/>
          </a:prstGeom>
          <a:noFill/>
        </p:spPr>
        <p:txBody>
          <a:bodyPr wrap="square">
            <a:spAutoFit/>
          </a:bodyPr>
          <a:lstStyle/>
          <a:p>
            <a:pPr>
              <a:spcAft>
                <a:spcPts val="1000"/>
              </a:spcAft>
              <a:defRPr sz="1900" b="0">
                <a:solidFill>
                  <a:srgbClr val="E6EDF7"/>
                </a:solidFill>
              </a:defRPr>
            </a:pPr>
            <a:r>
              <a:t>•  HDFS commands used: put, ls, cat, cp, mv, get, rm</a:t>
            </a:r>
          </a:p>
          <a:p>
            <a:pPr>
              <a:spcAft>
                <a:spcPts val="1000"/>
              </a:spcAft>
              <a:defRPr sz="1900" b="0">
                <a:solidFill>
                  <a:srgbClr val="E6EDF7"/>
                </a:solidFill>
              </a:defRPr>
            </a:pPr>
            <a:r>
              <a:t>•  Job 1: divide India's map into small boxes and count planes in each box per hour</a:t>
            </a:r>
          </a:p>
          <a:p>
            <a:pPr>
              <a:spcAft>
                <a:spcPts val="1000"/>
              </a:spcAft>
              <a:defRPr sz="1900" b="0">
                <a:solidFill>
                  <a:srgbClr val="E6EDF7"/>
                </a:solidFill>
              </a:defRPr>
            </a:pPr>
            <a:r>
              <a:t>•  Job 2: join each plane's points in time order and measure the distance it really flew</a:t>
            </a:r>
          </a:p>
          <a:p>
            <a:pPr>
              <a:spcAft>
                <a:spcPts val="1000"/>
              </a:spcAft>
              <a:defRPr sz="1900" b="0">
                <a:solidFill>
                  <a:srgbClr val="E6EDF7"/>
                </a:solidFill>
              </a:defRPr>
            </a:pPr>
            <a:r>
              <a:t>•  Compare with the straight-line distance to get the extra % flown</a:t>
            </a:r>
          </a:p>
          <a:p>
            <a:pPr>
              <a:spcAft>
                <a:spcPts val="1000"/>
              </a:spcAft>
              <a:defRPr sz="1900" b="0">
                <a:solidFill>
                  <a:srgbClr val="E6EDF7"/>
                </a:solidFill>
              </a:defRPr>
            </a:pPr>
            <a:r>
              <a:t>•  Like election counting: many booths count at once, then totals are added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spcAft>
                <a:spcPts val="1000"/>
              </a:spcAft>
              <a:defRPr sz="1200" b="1">
                <a:solidFill>
                  <a:srgbClr val="4CC9F0"/>
                </a:solidFill>
              </a:defRPr>
            </a:pPr>
            <a:r>
              <a:t>SPARK &amp; MONGODB</a:t>
            </a:r>
          </a:p>
        </p:txBody>
      </p:sp>
      <p:sp>
        <p:nvSpPr>
          <p:cNvPr id="3" name="TextBox 2"/>
          <p:cNvSpPr txBox="1"/>
          <p:nvPr/>
        </p:nvSpPr>
        <p:spPr>
          <a:xfrm>
            <a:off x="548640" y="640080"/>
            <a:ext cx="10972800" cy="822960"/>
          </a:xfrm>
          <a:prstGeom prst="rect">
            <a:avLst/>
          </a:prstGeom>
          <a:noFill/>
        </p:spPr>
        <p:txBody>
          <a:bodyPr wrap="square">
            <a:spAutoFit/>
          </a:bodyPr>
          <a:lstStyle/>
          <a:p>
            <a:pPr>
              <a:spcAft>
                <a:spcPts val="1000"/>
              </a:spcAft>
              <a:defRPr sz="3400" b="1">
                <a:solidFill>
                  <a:srgbClr val="E6EDF7"/>
                </a:solidFill>
              </a:defRPr>
            </a:pPr>
            <a:r>
              <a:t>Spark and MongoDB</a:t>
            </a:r>
          </a:p>
        </p:txBody>
      </p:sp>
      <p:sp>
        <p:nvSpPr>
          <p:cNvPr id="4" name="TextBox 3"/>
          <p:cNvSpPr txBox="1"/>
          <p:nvPr/>
        </p:nvSpPr>
        <p:spPr>
          <a:xfrm>
            <a:off x="548640" y="1645920"/>
            <a:ext cx="10972800" cy="4572000"/>
          </a:xfrm>
          <a:prstGeom prst="rect">
            <a:avLst/>
          </a:prstGeom>
          <a:noFill/>
        </p:spPr>
        <p:txBody>
          <a:bodyPr wrap="square">
            <a:spAutoFit/>
          </a:bodyPr>
          <a:lstStyle/>
          <a:p>
            <a:pPr>
              <a:spcAft>
                <a:spcPts val="1000"/>
              </a:spcAft>
              <a:defRPr sz="1900" b="0">
                <a:solidFill>
                  <a:srgbClr val="E6EDF7"/>
                </a:solidFill>
              </a:defRPr>
            </a:pPr>
            <a:r>
              <a:t>•  Spark reads data straight from HDFS and runs SQL queries fast, in memory</a:t>
            </a:r>
          </a:p>
          <a:p>
            <a:pPr>
              <a:spcAft>
                <a:spcPts val="1000"/>
              </a:spcAft>
              <a:defRPr sz="1900" b="0">
                <a:solidFill>
                  <a:srgbClr val="E6EDF7"/>
                </a:solidFill>
              </a:defRPr>
            </a:pPr>
            <a:r>
              <a:t>•  Finds flight phase: climbing, cruising, descending</a:t>
            </a:r>
          </a:p>
          <a:p>
            <a:pPr>
              <a:spcAft>
                <a:spcPts val="1000"/>
              </a:spcAft>
              <a:defRPr sz="1900" b="0">
                <a:solidFill>
                  <a:srgbClr val="E6EDF7"/>
                </a:solidFill>
              </a:defRPr>
            </a:pPr>
            <a:r>
              <a:t>•  Detects holding: a plane that turned more than 1.5 full circles near an airport</a:t>
            </a:r>
          </a:p>
          <a:p>
            <a:pPr>
              <a:spcAft>
                <a:spcPts val="1000"/>
              </a:spcAft>
              <a:defRPr sz="1900" b="0">
                <a:solidFill>
                  <a:srgbClr val="E6EDF7"/>
                </a:solidFill>
              </a:defRPr>
            </a:pPr>
            <a:r>
              <a:t>•  MongoDB stores each flight path as a map line</a:t>
            </a:r>
          </a:p>
          <a:p>
            <a:pPr>
              <a:spcAft>
                <a:spcPts val="1000"/>
              </a:spcAft>
              <a:defRPr sz="1900" b="0">
                <a:solidFill>
                  <a:srgbClr val="E6EDF7"/>
                </a:solidFill>
              </a:defRPr>
            </a:pPr>
            <a:r>
              <a:t>•  Example search: which flights passed within 50 km of Nagpur?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spcAft>
                <a:spcPts val="1000"/>
              </a:spcAft>
              <a:defRPr sz="1200" b="1">
                <a:solidFill>
                  <a:srgbClr val="4CC9F0"/>
                </a:solidFill>
              </a:defRPr>
            </a:pPr>
            <a:r>
              <a:t>GRAPH ANALYTICS</a:t>
            </a:r>
          </a:p>
        </p:txBody>
      </p:sp>
      <p:sp>
        <p:nvSpPr>
          <p:cNvPr id="3" name="TextBox 2"/>
          <p:cNvSpPr txBox="1"/>
          <p:nvPr/>
        </p:nvSpPr>
        <p:spPr>
          <a:xfrm>
            <a:off x="548640" y="640080"/>
            <a:ext cx="10972800" cy="822960"/>
          </a:xfrm>
          <a:prstGeom prst="rect">
            <a:avLst/>
          </a:prstGeom>
          <a:noFill/>
        </p:spPr>
        <p:txBody>
          <a:bodyPr wrap="square">
            <a:spAutoFit/>
          </a:bodyPr>
          <a:lstStyle/>
          <a:p>
            <a:pPr>
              <a:spcAft>
                <a:spcPts val="1000"/>
              </a:spcAft>
              <a:defRPr sz="3400" b="1">
                <a:solidFill>
                  <a:srgbClr val="E6EDF7"/>
                </a:solidFill>
              </a:defRPr>
            </a:pPr>
            <a:r>
              <a:t>Airport network: groups and hubs</a:t>
            </a:r>
          </a:p>
        </p:txBody>
      </p:sp>
      <p:sp>
        <p:nvSpPr>
          <p:cNvPr id="4" name="TextBox 3"/>
          <p:cNvSpPr txBox="1"/>
          <p:nvPr/>
        </p:nvSpPr>
        <p:spPr>
          <a:xfrm>
            <a:off x="548640" y="1645920"/>
            <a:ext cx="6035040" cy="4572000"/>
          </a:xfrm>
          <a:prstGeom prst="rect">
            <a:avLst/>
          </a:prstGeom>
          <a:noFill/>
        </p:spPr>
        <p:txBody>
          <a:bodyPr wrap="square">
            <a:spAutoFit/>
          </a:bodyPr>
          <a:lstStyle/>
          <a:p>
            <a:pPr>
              <a:spcAft>
                <a:spcPts val="1000"/>
              </a:spcAft>
              <a:defRPr sz="1800" b="0">
                <a:solidFill>
                  <a:srgbClr val="E6EDF7"/>
                </a:solidFill>
              </a:defRPr>
            </a:pPr>
            <a:r>
              <a:t>•  Airports = dots, flights between them = lines</a:t>
            </a:r>
          </a:p>
          <a:p>
            <a:pPr>
              <a:spcAft>
                <a:spcPts val="1000"/>
              </a:spcAft>
              <a:defRPr sz="1800" b="0">
                <a:solidFill>
                  <a:srgbClr val="E6EDF7"/>
                </a:solidFill>
              </a:defRPr>
            </a:pPr>
            <a:r>
              <a:t>•  Louvain algorithm finds groups of airports that fly mostly among themselves</a:t>
            </a:r>
          </a:p>
          <a:p>
            <a:pPr>
              <a:spcAft>
                <a:spcPts val="1000"/>
              </a:spcAft>
              <a:defRPr sz="1800" b="0">
                <a:solidFill>
                  <a:srgbClr val="E6EDF7"/>
                </a:solidFill>
              </a:defRPr>
            </a:pPr>
            <a:r>
              <a:t>•  Found 4 regions: North, West, South, East</a:t>
            </a:r>
          </a:p>
          <a:p>
            <a:pPr>
              <a:spcAft>
                <a:spcPts val="1000"/>
              </a:spcAft>
              <a:defRPr sz="1800" b="0">
                <a:solidFill>
                  <a:srgbClr val="E6EDF7"/>
                </a:solidFill>
              </a:defRPr>
            </a:pPr>
            <a:r>
              <a:t>•  PageRank finds the most important hubs: Delhi and Mumbai</a:t>
            </a:r>
          </a:p>
          <a:p>
            <a:pPr>
              <a:spcAft>
                <a:spcPts val="1000"/>
              </a:spcAft>
              <a:defRPr sz="1800" b="0">
                <a:solidFill>
                  <a:srgbClr val="E6EDF7"/>
                </a:solidFill>
              </a:defRPr>
            </a:pPr>
            <a:r>
              <a:t>•  Like finding friend groups and influencers on Instagram</a:t>
            </a:r>
          </a:p>
        </p:txBody>
      </p:sp>
      <p:pic>
        <p:nvPicPr>
          <p:cNvPr id="5" name="Picture 4" descr="map.png"/>
          <p:cNvPicPr>
            <a:picLocks noChangeAspect="1"/>
          </p:cNvPicPr>
          <p:nvPr/>
        </p:nvPicPr>
        <p:blipFill>
          <a:blip r:embed="rId2"/>
          <a:stretch>
            <a:fillRect/>
          </a:stretch>
        </p:blipFill>
        <p:spPr>
          <a:xfrm>
            <a:off x="7863840" y="1371600"/>
            <a:ext cx="4063564" cy="51206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spcAft>
                <a:spcPts val="1000"/>
              </a:spcAft>
              <a:defRPr sz="1200" b="1">
                <a:solidFill>
                  <a:srgbClr val="4CC9F0"/>
                </a:solidFill>
              </a:defRPr>
            </a:pPr>
            <a:r>
              <a:t>RESULTS</a:t>
            </a:r>
          </a:p>
        </p:txBody>
      </p:sp>
      <p:sp>
        <p:nvSpPr>
          <p:cNvPr id="3" name="TextBox 2"/>
          <p:cNvSpPr txBox="1"/>
          <p:nvPr/>
        </p:nvSpPr>
        <p:spPr>
          <a:xfrm>
            <a:off x="548640" y="640080"/>
            <a:ext cx="10972800" cy="822960"/>
          </a:xfrm>
          <a:prstGeom prst="rect">
            <a:avLst/>
          </a:prstGeom>
          <a:noFill/>
        </p:spPr>
        <p:txBody>
          <a:bodyPr wrap="square">
            <a:spAutoFit/>
          </a:bodyPr>
          <a:lstStyle/>
          <a:p>
            <a:pPr>
              <a:spcAft>
                <a:spcPts val="1000"/>
              </a:spcAft>
              <a:defRPr sz="3400" b="1">
                <a:solidFill>
                  <a:srgbClr val="E6EDF7"/>
                </a:solidFill>
              </a:defRPr>
            </a:pPr>
            <a:r>
              <a:t>What we found</a:t>
            </a:r>
          </a:p>
        </p:txBody>
      </p:sp>
      <p:sp>
        <p:nvSpPr>
          <p:cNvPr id="4" name="Rectangle 3"/>
          <p:cNvSpPr/>
          <p:nvPr/>
        </p:nvSpPr>
        <p:spPr>
          <a:xfrm>
            <a:off x="548640" y="5120640"/>
            <a:ext cx="2651760" cy="1188720"/>
          </a:xfrm>
          <a:prstGeom prst="rect">
            <a:avLst/>
          </a:prstGeom>
          <a:solidFill>
            <a:srgbClr val="111A2E"/>
          </a:solidFill>
          <a:ln>
            <a:solidFill>
              <a:srgbClr val="1E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230368"/>
            <a:ext cx="2377440" cy="548640"/>
          </a:xfrm>
          <a:prstGeom prst="rect">
            <a:avLst/>
          </a:prstGeom>
          <a:noFill/>
        </p:spPr>
        <p:txBody>
          <a:bodyPr wrap="square">
            <a:spAutoFit/>
          </a:bodyPr>
          <a:lstStyle/>
          <a:p>
            <a:pPr>
              <a:spcAft>
                <a:spcPts val="1000"/>
              </a:spcAft>
              <a:defRPr sz="2400" b="1">
                <a:solidFill>
                  <a:srgbClr val="4CC9F0"/>
                </a:solidFill>
              </a:defRPr>
            </a:pPr>
            <a:r>
              <a:t>4.14%</a:t>
            </a:r>
          </a:p>
        </p:txBody>
      </p:sp>
      <p:sp>
        <p:nvSpPr>
          <p:cNvPr id="6" name="TextBox 5"/>
          <p:cNvSpPr txBox="1"/>
          <p:nvPr/>
        </p:nvSpPr>
        <p:spPr>
          <a:xfrm>
            <a:off x="731520" y="5806440"/>
            <a:ext cx="2377440" cy="457200"/>
          </a:xfrm>
          <a:prstGeom prst="rect">
            <a:avLst/>
          </a:prstGeom>
          <a:noFill/>
        </p:spPr>
        <p:txBody>
          <a:bodyPr wrap="square">
            <a:spAutoFit/>
          </a:bodyPr>
          <a:lstStyle/>
          <a:p>
            <a:pPr>
              <a:spcAft>
                <a:spcPts val="1000"/>
              </a:spcAft>
              <a:defRPr sz="1200" b="0">
                <a:solidFill>
                  <a:srgbClr val="8A9BBB"/>
                </a:solidFill>
              </a:defRPr>
            </a:pPr>
            <a:r>
              <a:t>extra distance</a:t>
            </a:r>
          </a:p>
        </p:txBody>
      </p:sp>
      <p:sp>
        <p:nvSpPr>
          <p:cNvPr id="7" name="Rectangle 6"/>
          <p:cNvSpPr/>
          <p:nvPr/>
        </p:nvSpPr>
        <p:spPr>
          <a:xfrm>
            <a:off x="3383280" y="5120640"/>
            <a:ext cx="2651760" cy="1188720"/>
          </a:xfrm>
          <a:prstGeom prst="rect">
            <a:avLst/>
          </a:prstGeom>
          <a:solidFill>
            <a:srgbClr val="111A2E"/>
          </a:solidFill>
          <a:ln>
            <a:solidFill>
              <a:srgbClr val="1E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5230368"/>
            <a:ext cx="2377440" cy="548640"/>
          </a:xfrm>
          <a:prstGeom prst="rect">
            <a:avLst/>
          </a:prstGeom>
          <a:noFill/>
        </p:spPr>
        <p:txBody>
          <a:bodyPr wrap="square">
            <a:spAutoFit/>
          </a:bodyPr>
          <a:lstStyle/>
          <a:p>
            <a:pPr>
              <a:spcAft>
                <a:spcPts val="1000"/>
              </a:spcAft>
              <a:defRPr sz="2400" b="1">
                <a:solidFill>
                  <a:srgbClr val="4CC9F0"/>
                </a:solidFill>
              </a:defRPr>
            </a:pPr>
            <a:r>
              <a:t>17,856 km</a:t>
            </a:r>
          </a:p>
        </p:txBody>
      </p:sp>
      <p:sp>
        <p:nvSpPr>
          <p:cNvPr id="9" name="TextBox 8"/>
          <p:cNvSpPr txBox="1"/>
          <p:nvPr/>
        </p:nvSpPr>
        <p:spPr>
          <a:xfrm>
            <a:off x="3566160" y="5806440"/>
            <a:ext cx="2377440" cy="457200"/>
          </a:xfrm>
          <a:prstGeom prst="rect">
            <a:avLst/>
          </a:prstGeom>
          <a:noFill/>
        </p:spPr>
        <p:txBody>
          <a:bodyPr wrap="square">
            <a:spAutoFit/>
          </a:bodyPr>
          <a:lstStyle/>
          <a:p>
            <a:pPr>
              <a:spcAft>
                <a:spcPts val="1000"/>
              </a:spcAft>
              <a:defRPr sz="1200" b="0">
                <a:solidFill>
                  <a:srgbClr val="8A9BBB"/>
                </a:solidFill>
              </a:defRPr>
            </a:pPr>
            <a:r>
              <a:t>extra flying / day</a:t>
            </a:r>
          </a:p>
        </p:txBody>
      </p:sp>
      <p:sp>
        <p:nvSpPr>
          <p:cNvPr id="10" name="Rectangle 9"/>
          <p:cNvSpPr/>
          <p:nvPr/>
        </p:nvSpPr>
        <p:spPr>
          <a:xfrm>
            <a:off x="6217920" y="5120640"/>
            <a:ext cx="2651760" cy="1188720"/>
          </a:xfrm>
          <a:prstGeom prst="rect">
            <a:avLst/>
          </a:prstGeom>
          <a:solidFill>
            <a:srgbClr val="111A2E"/>
          </a:solidFill>
          <a:ln>
            <a:solidFill>
              <a:srgbClr val="1E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5230368"/>
            <a:ext cx="2377440" cy="548640"/>
          </a:xfrm>
          <a:prstGeom prst="rect">
            <a:avLst/>
          </a:prstGeom>
          <a:noFill/>
        </p:spPr>
        <p:txBody>
          <a:bodyPr wrap="square">
            <a:spAutoFit/>
          </a:bodyPr>
          <a:lstStyle/>
          <a:p>
            <a:pPr>
              <a:spcAft>
                <a:spcPts val="1000"/>
              </a:spcAft>
              <a:defRPr sz="2400" b="1">
                <a:solidFill>
                  <a:srgbClr val="4CC9F0"/>
                </a:solidFill>
              </a:defRPr>
            </a:pPr>
            <a:r>
              <a:t>135.7 t</a:t>
            </a:r>
          </a:p>
        </p:txBody>
      </p:sp>
      <p:sp>
        <p:nvSpPr>
          <p:cNvPr id="12" name="TextBox 11"/>
          <p:cNvSpPr txBox="1"/>
          <p:nvPr/>
        </p:nvSpPr>
        <p:spPr>
          <a:xfrm>
            <a:off x="6400800" y="5806440"/>
            <a:ext cx="2377440" cy="457200"/>
          </a:xfrm>
          <a:prstGeom prst="rect">
            <a:avLst/>
          </a:prstGeom>
          <a:noFill/>
        </p:spPr>
        <p:txBody>
          <a:bodyPr wrap="square">
            <a:spAutoFit/>
          </a:bodyPr>
          <a:lstStyle/>
          <a:p>
            <a:pPr>
              <a:spcAft>
                <a:spcPts val="1000"/>
              </a:spcAft>
              <a:defRPr sz="1200" b="0">
                <a:solidFill>
                  <a:srgbClr val="8A9BBB"/>
                </a:solidFill>
              </a:defRPr>
            </a:pPr>
            <a:r>
              <a:t>CO2 avoidable / day</a:t>
            </a:r>
          </a:p>
        </p:txBody>
      </p:sp>
      <p:sp>
        <p:nvSpPr>
          <p:cNvPr id="13" name="Rectangle 12"/>
          <p:cNvSpPr/>
          <p:nvPr/>
        </p:nvSpPr>
        <p:spPr>
          <a:xfrm>
            <a:off x="9052560" y="5120640"/>
            <a:ext cx="2651760" cy="1188720"/>
          </a:xfrm>
          <a:prstGeom prst="rect">
            <a:avLst/>
          </a:prstGeom>
          <a:solidFill>
            <a:srgbClr val="111A2E"/>
          </a:solidFill>
          <a:ln>
            <a:solidFill>
              <a:srgbClr val="1E2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0" y="5230368"/>
            <a:ext cx="2377440" cy="548640"/>
          </a:xfrm>
          <a:prstGeom prst="rect">
            <a:avLst/>
          </a:prstGeom>
          <a:noFill/>
        </p:spPr>
        <p:txBody>
          <a:bodyPr wrap="square">
            <a:spAutoFit/>
          </a:bodyPr>
          <a:lstStyle/>
          <a:p>
            <a:pPr>
              <a:spcAft>
                <a:spcPts val="1000"/>
              </a:spcAft>
              <a:defRPr sz="2400" b="1">
                <a:solidFill>
                  <a:srgbClr val="4CC9F0"/>
                </a:solidFill>
              </a:defRPr>
            </a:pPr>
            <a:r>
              <a:t>52</a:t>
            </a:r>
          </a:p>
        </p:txBody>
      </p:sp>
      <p:sp>
        <p:nvSpPr>
          <p:cNvPr id="15" name="TextBox 14"/>
          <p:cNvSpPr txBox="1"/>
          <p:nvPr/>
        </p:nvSpPr>
        <p:spPr>
          <a:xfrm>
            <a:off x="9235440" y="5806440"/>
            <a:ext cx="2377440" cy="457200"/>
          </a:xfrm>
          <a:prstGeom prst="rect">
            <a:avLst/>
          </a:prstGeom>
          <a:noFill/>
        </p:spPr>
        <p:txBody>
          <a:bodyPr wrap="square">
            <a:spAutoFit/>
          </a:bodyPr>
          <a:lstStyle/>
          <a:p>
            <a:pPr>
              <a:spcAft>
                <a:spcPts val="1000"/>
              </a:spcAft>
              <a:defRPr sz="1200" b="0">
                <a:solidFill>
                  <a:srgbClr val="8A9BBB"/>
                </a:solidFill>
              </a:defRPr>
            </a:pPr>
            <a:r>
              <a:t>planes circled</a:t>
            </a:r>
          </a:p>
        </p:txBody>
      </p:sp>
      <p:sp>
        <p:nvSpPr>
          <p:cNvPr id="16" name="TextBox 15"/>
          <p:cNvSpPr txBox="1"/>
          <p:nvPr/>
        </p:nvSpPr>
        <p:spPr>
          <a:xfrm>
            <a:off x="548640" y="1645920"/>
            <a:ext cx="5577840" cy="3291840"/>
          </a:xfrm>
          <a:prstGeom prst="rect">
            <a:avLst/>
          </a:prstGeom>
          <a:noFill/>
        </p:spPr>
        <p:txBody>
          <a:bodyPr wrap="square">
            <a:spAutoFit/>
          </a:bodyPr>
          <a:lstStyle/>
          <a:p>
            <a:pPr>
              <a:spcAft>
                <a:spcPts val="1000"/>
              </a:spcAft>
              <a:defRPr sz="1700" b="0">
                <a:solidFill>
                  <a:srgbClr val="E6EDF7"/>
                </a:solidFill>
              </a:defRPr>
            </a:pPr>
            <a:r>
              <a:t>•  Flights flew 4.1% more distance than the straight path, on average</a:t>
            </a:r>
          </a:p>
          <a:p>
            <a:pPr>
              <a:spcAft>
                <a:spcPts val="1000"/>
              </a:spcAft>
              <a:defRPr sz="1700" b="0">
                <a:solidFill>
                  <a:srgbClr val="E6EDF7"/>
                </a:solidFill>
              </a:defRPr>
            </a:pPr>
            <a:r>
              <a:t>•  About 17,900 km of extra flying in one day</a:t>
            </a:r>
          </a:p>
          <a:p>
            <a:pPr>
              <a:spcAft>
                <a:spcPts val="1000"/>
              </a:spcAft>
              <a:defRPr sz="1700" b="0">
                <a:solidFill>
                  <a:srgbClr val="E6EDF7"/>
                </a:solidFill>
              </a:defRPr>
            </a:pPr>
            <a:r>
              <a:t>•  About 136 tonnes of CO2 that could be avoided every day</a:t>
            </a:r>
          </a:p>
          <a:p>
            <a:pPr>
              <a:spcAft>
                <a:spcPts val="1000"/>
              </a:spcAft>
              <a:defRPr sz="1700" b="0">
                <a:solidFill>
                  <a:srgbClr val="E6EDF7"/>
                </a:solidFill>
              </a:defRPr>
            </a:pPr>
            <a:r>
              <a:t>•  52 planes had to circle (hold), all at Delhi and Mumbai, at rush hours</a:t>
            </a:r>
          </a:p>
          <a:p>
            <a:pPr>
              <a:spcAft>
                <a:spcPts val="1000"/>
              </a:spcAft>
              <a:defRPr sz="1700" b="0">
                <a:solidFill>
                  <a:srgbClr val="E6EDF7"/>
                </a:solidFill>
              </a:defRPr>
            </a:pPr>
            <a:r>
              <a:t>•  Busiest hours: 6-10 am and 5-9 pm</a:t>
            </a:r>
          </a:p>
        </p:txBody>
      </p:sp>
      <p:pic>
        <p:nvPicPr>
          <p:cNvPr id="17" name="Picture 16" descr="hourly.png"/>
          <p:cNvPicPr>
            <a:picLocks noChangeAspect="1"/>
          </p:cNvPicPr>
          <p:nvPr/>
        </p:nvPicPr>
        <p:blipFill>
          <a:blip r:embed="rId2"/>
          <a:stretch>
            <a:fillRect/>
          </a:stretch>
        </p:blipFill>
        <p:spPr>
          <a:xfrm>
            <a:off x="6309360" y="1645920"/>
            <a:ext cx="5773271" cy="27432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spcAft>
                <a:spcPts val="1000"/>
              </a:spcAft>
              <a:defRPr sz="1200" b="1">
                <a:solidFill>
                  <a:srgbClr val="4CC9F0"/>
                </a:solidFill>
              </a:defRPr>
            </a:pPr>
            <a:r>
              <a:t>LIVE DEMO</a:t>
            </a:r>
          </a:p>
        </p:txBody>
      </p:sp>
      <p:sp>
        <p:nvSpPr>
          <p:cNvPr id="3" name="TextBox 2"/>
          <p:cNvSpPr txBox="1"/>
          <p:nvPr/>
        </p:nvSpPr>
        <p:spPr>
          <a:xfrm>
            <a:off x="548640" y="640080"/>
            <a:ext cx="10972800" cy="822960"/>
          </a:xfrm>
          <a:prstGeom prst="rect">
            <a:avLst/>
          </a:prstGeom>
          <a:noFill/>
        </p:spPr>
        <p:txBody>
          <a:bodyPr wrap="square">
            <a:spAutoFit/>
          </a:bodyPr>
          <a:lstStyle/>
          <a:p>
            <a:pPr>
              <a:spcAft>
                <a:spcPts val="1000"/>
              </a:spcAft>
              <a:defRPr sz="3400" b="1">
                <a:solidFill>
                  <a:srgbClr val="E6EDF7"/>
                </a:solidFill>
              </a:defRPr>
            </a:pPr>
            <a:r>
              <a:t>The dashboard</a:t>
            </a:r>
          </a:p>
        </p:txBody>
      </p:sp>
      <p:sp>
        <p:nvSpPr>
          <p:cNvPr id="4" name="TextBox 3"/>
          <p:cNvSpPr txBox="1"/>
          <p:nvPr/>
        </p:nvSpPr>
        <p:spPr>
          <a:xfrm>
            <a:off x="548640" y="1645920"/>
            <a:ext cx="6035040" cy="4572000"/>
          </a:xfrm>
          <a:prstGeom prst="rect">
            <a:avLst/>
          </a:prstGeom>
          <a:noFill/>
        </p:spPr>
        <p:txBody>
          <a:bodyPr wrap="square">
            <a:spAutoFit/>
          </a:bodyPr>
          <a:lstStyle/>
          <a:p>
            <a:pPr>
              <a:spcAft>
                <a:spcPts val="1000"/>
              </a:spcAft>
              <a:defRPr sz="1800" b="0">
                <a:solidFill>
                  <a:srgbClr val="E6EDF7"/>
                </a:solidFill>
              </a:defRPr>
            </a:pPr>
            <a:r>
              <a:t>•  Airspace map: every flight path coloured by height, with a time slider</a:t>
            </a:r>
          </a:p>
          <a:p>
            <a:pPr>
              <a:spcAft>
                <a:spcPts val="1000"/>
              </a:spcAft>
              <a:defRPr sz="1800" b="0">
                <a:solidFill>
                  <a:srgbClr val="E6EDF7"/>
                </a:solidFill>
              </a:defRPr>
            </a:pPr>
            <a:r>
              <a:t>•  Heatmap and hotspot boxes show crowded areas</a:t>
            </a:r>
          </a:p>
          <a:p>
            <a:pPr>
              <a:spcAft>
                <a:spcPts val="1000"/>
              </a:spcAft>
              <a:defRPr sz="1800" b="0">
                <a:solidFill>
                  <a:srgbClr val="E6EDF7"/>
                </a:solidFill>
              </a:defRPr>
            </a:pPr>
            <a:r>
              <a:t>•  Temporal tab: traffic by hour, holding by airport</a:t>
            </a:r>
          </a:p>
          <a:p>
            <a:pPr>
              <a:spcAft>
                <a:spcPts val="1000"/>
              </a:spcAft>
              <a:defRPr sz="1800" b="0">
                <a:solidFill>
                  <a:srgbClr val="E6EDF7"/>
                </a:solidFill>
              </a:defRPr>
            </a:pPr>
            <a:r>
              <a:t>•  Route tab: worst routes and CO2 impact</a:t>
            </a:r>
          </a:p>
          <a:p>
            <a:pPr>
              <a:spcAft>
                <a:spcPts val="1000"/>
              </a:spcAft>
              <a:defRPr sz="1800" b="0">
                <a:solidFill>
                  <a:srgbClr val="E6EDF7"/>
                </a:solidFill>
              </a:defRPr>
            </a:pPr>
            <a:r>
              <a:t>•  Network tab: airport groups and hub ranking</a:t>
            </a:r>
          </a:p>
        </p:txBody>
      </p:sp>
      <p:pic>
        <p:nvPicPr>
          <p:cNvPr id="5" name="Picture 4" descr="dashboard.png"/>
          <p:cNvPicPr>
            <a:picLocks noChangeAspect="1"/>
          </p:cNvPicPr>
          <p:nvPr/>
        </p:nvPicPr>
        <p:blipFill>
          <a:blip r:embed="rId2"/>
          <a:stretch>
            <a:fillRect/>
          </a:stretch>
        </p:blipFill>
        <p:spPr>
          <a:xfrm>
            <a:off x="6400800" y="1828800"/>
            <a:ext cx="5608320" cy="31546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spcAft>
                <a:spcPts val="1000"/>
              </a:spcAft>
              <a:defRPr sz="1200" b="1">
                <a:solidFill>
                  <a:srgbClr val="4CC9F0"/>
                </a:solidFill>
              </a:defRPr>
            </a:pPr>
            <a:r>
              <a:t>USE CASES</a:t>
            </a:r>
          </a:p>
        </p:txBody>
      </p:sp>
      <p:sp>
        <p:nvSpPr>
          <p:cNvPr id="3" name="TextBox 2"/>
          <p:cNvSpPr txBox="1"/>
          <p:nvPr/>
        </p:nvSpPr>
        <p:spPr>
          <a:xfrm>
            <a:off x="548640" y="640080"/>
            <a:ext cx="10972800" cy="822960"/>
          </a:xfrm>
          <a:prstGeom prst="rect">
            <a:avLst/>
          </a:prstGeom>
          <a:noFill/>
        </p:spPr>
        <p:txBody>
          <a:bodyPr wrap="square">
            <a:spAutoFit/>
          </a:bodyPr>
          <a:lstStyle/>
          <a:p>
            <a:pPr>
              <a:spcAft>
                <a:spcPts val="1000"/>
              </a:spcAft>
              <a:defRPr sz="3400" b="1">
                <a:solidFill>
                  <a:srgbClr val="E6EDF7"/>
                </a:solidFill>
              </a:defRPr>
            </a:pPr>
            <a:r>
              <a:t>Who can use this and how</a:t>
            </a:r>
          </a:p>
        </p:txBody>
      </p:sp>
      <p:sp>
        <p:nvSpPr>
          <p:cNvPr id="4" name="TextBox 3"/>
          <p:cNvSpPr txBox="1"/>
          <p:nvPr/>
        </p:nvSpPr>
        <p:spPr>
          <a:xfrm>
            <a:off x="548640" y="1645920"/>
            <a:ext cx="10972800" cy="4572000"/>
          </a:xfrm>
          <a:prstGeom prst="rect">
            <a:avLst/>
          </a:prstGeom>
          <a:noFill/>
        </p:spPr>
        <p:txBody>
          <a:bodyPr wrap="square">
            <a:spAutoFit/>
          </a:bodyPr>
          <a:lstStyle/>
          <a:p>
            <a:pPr>
              <a:spcAft>
                <a:spcPts val="1000"/>
              </a:spcAft>
              <a:defRPr sz="1900" b="0">
                <a:solidFill>
                  <a:srgbClr val="E6EDF7"/>
                </a:solidFill>
              </a:defRPr>
            </a:pPr>
            <a:r>
              <a:t>•  Airports Authority of India: plan new routes and airspace changes</a:t>
            </a:r>
          </a:p>
          <a:p>
            <a:pPr>
              <a:spcAft>
                <a:spcPts val="1000"/>
              </a:spcAft>
              <a:defRPr sz="1900" b="0">
                <a:solidFill>
                  <a:srgbClr val="E6EDF7"/>
                </a:solidFill>
              </a:defRPr>
            </a:pPr>
            <a:r>
              <a:t>•  Airport operators: decide when a new runway or terminal is needed</a:t>
            </a:r>
          </a:p>
          <a:p>
            <a:pPr>
              <a:spcAft>
                <a:spcPts val="1000"/>
              </a:spcAft>
              <a:defRPr sz="1900" b="0">
                <a:solidFill>
                  <a:srgbClr val="E6EDF7"/>
                </a:solidFill>
              </a:defRPr>
            </a:pPr>
            <a:r>
              <a:t>•  Airlines: choose better routes and departure times to save fuel</a:t>
            </a:r>
          </a:p>
          <a:p>
            <a:pPr>
              <a:spcAft>
                <a:spcPts val="1000"/>
              </a:spcAft>
              <a:defRPr sz="1900" b="0">
                <a:solidFill>
                  <a:srgbClr val="E6EDF7"/>
                </a:solidFill>
              </a:defRPr>
            </a:pPr>
            <a:r>
              <a:t>•  Government: track aviation pollution against climate targets</a:t>
            </a:r>
          </a:p>
          <a:p>
            <a:pPr>
              <a:spcAft>
                <a:spcPts val="1000"/>
              </a:spcAft>
              <a:defRPr sz="1900" b="0">
                <a:solidFill>
                  <a:srgbClr val="E6EDF7"/>
                </a:solidFill>
              </a:defRPr>
            </a:pPr>
            <a:r>
              <a:t>•  Passengers: fewer delays, more on-time flights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TextBox 1"/>
          <p:cNvSpPr txBox="1"/>
          <p:nvPr/>
        </p:nvSpPr>
        <p:spPr>
          <a:xfrm>
            <a:off x="548640" y="320040"/>
            <a:ext cx="7315200" cy="365760"/>
          </a:xfrm>
          <a:prstGeom prst="rect">
            <a:avLst/>
          </a:prstGeom>
          <a:noFill/>
        </p:spPr>
        <p:txBody>
          <a:bodyPr wrap="square">
            <a:spAutoFit/>
          </a:bodyPr>
          <a:lstStyle/>
          <a:p>
            <a:pPr>
              <a:spcAft>
                <a:spcPts val="1000"/>
              </a:spcAft>
              <a:defRPr sz="1200" b="1">
                <a:solidFill>
                  <a:srgbClr val="4CC9F0"/>
                </a:solidFill>
              </a:defRPr>
            </a:pPr>
            <a:r>
              <a:t>CONCLUSION</a:t>
            </a:r>
          </a:p>
        </p:txBody>
      </p:sp>
      <p:sp>
        <p:nvSpPr>
          <p:cNvPr id="3" name="TextBox 2"/>
          <p:cNvSpPr txBox="1"/>
          <p:nvPr/>
        </p:nvSpPr>
        <p:spPr>
          <a:xfrm>
            <a:off x="548640" y="640080"/>
            <a:ext cx="10972800" cy="822960"/>
          </a:xfrm>
          <a:prstGeom prst="rect">
            <a:avLst/>
          </a:prstGeom>
          <a:noFill/>
        </p:spPr>
        <p:txBody>
          <a:bodyPr wrap="square">
            <a:spAutoFit/>
          </a:bodyPr>
          <a:lstStyle/>
          <a:p>
            <a:pPr>
              <a:spcAft>
                <a:spcPts val="1000"/>
              </a:spcAft>
              <a:defRPr sz="3400" b="1">
                <a:solidFill>
                  <a:srgbClr val="E6EDF7"/>
                </a:solidFill>
              </a:defRPr>
            </a:pPr>
            <a:r>
              <a:t>Conclusion and future scope</a:t>
            </a:r>
          </a:p>
        </p:txBody>
      </p:sp>
      <p:sp>
        <p:nvSpPr>
          <p:cNvPr id="4" name="TextBox 3"/>
          <p:cNvSpPr txBox="1"/>
          <p:nvPr/>
        </p:nvSpPr>
        <p:spPr>
          <a:xfrm>
            <a:off x="548640" y="1645920"/>
            <a:ext cx="10972800" cy="4572000"/>
          </a:xfrm>
          <a:prstGeom prst="rect">
            <a:avLst/>
          </a:prstGeom>
          <a:noFill/>
        </p:spPr>
        <p:txBody>
          <a:bodyPr wrap="square">
            <a:spAutoFit/>
          </a:bodyPr>
          <a:lstStyle/>
          <a:p>
            <a:pPr>
              <a:spcAft>
                <a:spcPts val="1000"/>
              </a:spcAft>
              <a:defRPr sz="1900" b="0">
                <a:solidFill>
                  <a:srgbClr val="E6EDF7"/>
                </a:solidFill>
              </a:defRPr>
            </a:pPr>
            <a:r>
              <a:t>•  Built a complete big data pipeline: Hadoop, MapReduce, Spark, MongoDB, Graphs</a:t>
            </a:r>
          </a:p>
          <a:p>
            <a:pPr>
              <a:spcAft>
                <a:spcPts val="1000"/>
              </a:spcAft>
              <a:defRPr sz="1900" b="0">
                <a:solidFill>
                  <a:srgbClr val="E6EDF7"/>
                </a:solidFill>
              </a:defRPr>
            </a:pPr>
            <a:r>
              <a:t>•  Turned raw flight points into useful decisions for infrastructure</a:t>
            </a:r>
          </a:p>
          <a:p>
            <a:pPr>
              <a:spcAft>
                <a:spcPts val="1000"/>
              </a:spcAft>
              <a:defRPr sz="1900" b="0">
                <a:solidFill>
                  <a:srgbClr val="E6EDF7"/>
                </a:solidFill>
              </a:defRPr>
            </a:pPr>
            <a:r>
              <a:t>•  Future: live data with Kafka, predict delays with machine learning, add weather data</a:t>
            </a:r>
          </a:p>
          <a:p>
            <a:pPr>
              <a:spcAft>
                <a:spcPts val="1000"/>
              </a:spcAft>
              <a:defRPr sz="1900" b="0">
                <a:solidFill>
                  <a:srgbClr val="E6EDF7"/>
                </a:solidFill>
              </a:defRPr>
            </a:pPr>
            <a:r>
              <a:t>•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